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FF"/>
                </a:solidFill>
              </a:defRPr>
            </a:pPr>
            <a:r>
              <a:t>BLUESTOCK FINTECH</a:t>
            </a:r>
          </a:p>
          <a:p>
            <a:pPr>
              <a:defRPr sz="3200" b="1">
                <a:solidFill>
                  <a:srgbClr val="0A2540"/>
                </a:solidFill>
              </a:defRPr>
            </a:pPr>
            <a:r>
              <a:t>Mutual Fund Analytics Platform</a:t>
            </a:r>
          </a:p>
          <a:p>
            <a:pPr>
              <a:defRPr sz="1400">
                <a:solidFill>
                  <a:srgbClr val="637381"/>
                </a:solidFill>
              </a:defRPr>
            </a:pPr>
            <a:r>
              <a:t>End-to-End Data Engineering, ETL Pipeline, Risk Engine &amp; BI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BLUESTOCK FINTECH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Problem Statement &amp; Capstone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Data Fragmentation: NAV, AUM, and transactions are scattered across TXT, HTML, and PDF formats.</a:t>
            </a:r>
          </a:p>
          <a:p>
            <a:r>
              <a:t>• Risk Comparison Gap: Lack of normalized, risk-adjusted performance metrics (Sharpe, Sortino, Alpha).</a:t>
            </a:r>
          </a:p>
          <a:p>
            <a:r>
              <a:t>• Objectives Met:</a:t>
            </a:r>
          </a:p>
          <a:p>
            <a:r>
              <a:t>   1. Automated ETL Pipeline from raw AMFI &amp; mfapi.in sources.</a:t>
            </a:r>
          </a:p>
          <a:p>
            <a:r>
              <a:t>   2. 5-Table SQLite Star Schema (dim_fund, dim_date, fact_nav, fact_tx, fact_perf).</a:t>
            </a:r>
          </a:p>
          <a:p>
            <a:r>
              <a:t>   3. Quantitative Risk &amp; Return Engine (21 metrics).</a:t>
            </a:r>
          </a:p>
          <a:p>
            <a:r>
              <a:t>   4. Interactive Multipage BI Dashboard &amp; Fund Recommender.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BLUESTOCK FINTECH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Data Ecosystem &amp; 10 Provided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AMFI India &amp; mfapi.in: Daily NAV history (46,000+ rows across 40 schemes).</a:t>
            </a:r>
          </a:p>
          <a:p>
            <a:r>
              <a:t>• AMFI Quarterly Reports: Quarterly AUM for top 10 AMCs (2022-2025).</a:t>
            </a:r>
          </a:p>
          <a:p>
            <a:r>
              <a:t>• AMFI Monthly Notes: Monthly SIP inflows, active accounts, new registrations.</a:t>
            </a:r>
          </a:p>
          <a:p>
            <a:r>
              <a:t>• Simulated Transactions: 32,000+ investor SIP &amp; lumpsum transactions across 12 states.</a:t>
            </a:r>
          </a:p>
          <a:p>
            <a:r>
              <a:t>• NSE/BSE Benchmark Indices: Daily closing levels for Nifty 50 &amp; Nifty 100.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BLUESTOCK FINTECH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System Architecture &amp; ETL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Extract: Ingest raw CSVs and live JSON APIs (mfapi.in).</a:t>
            </a:r>
          </a:p>
          <a:p>
            <a:r>
              <a:t>• Transform: Forward-fill holiday NAVs, compute daily returns, validate AMFI codes.</a:t>
            </a:r>
          </a:p>
          <a:p>
            <a:r>
              <a:t>• Load: SQLAlchemy ORM loading into SQLite star schema with indexes.</a:t>
            </a:r>
          </a:p>
          <a:p>
            <a:r>
              <a:t>• Analyze: Modular Python packages (scripts/risk_metrics.py, scripts/cohort_analysis.py).</a:t>
            </a:r>
          </a:p>
          <a:p>
            <a:r>
              <a:t>• Visualize: Streamlit Web Dashboard + PDF export utility.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BLUESTOCK FINTECH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Exploratory Data Analysis: AUM &amp; NAV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Industry AUM Growth: Reached Rs. 81.00 Lakh Crore in Dec 2025.</a:t>
            </a:r>
          </a:p>
          <a:p>
            <a:r>
              <a:t>• Top AMC Leadership: SBI MF leads with Rs. 12.50L Cr, followed by ICICI Pru &amp; HDFC MF.</a:t>
            </a:r>
          </a:p>
          <a:p>
            <a:r>
              <a:t>• NAV Trajectory: Strong post-COVID recovery with steady 2024-2025 market compounding.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BLUESTOCK FINTECH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Exploratory Data Analysis: Investor Demographics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Geographic Volume: Maharashtra and Gujarat generate 38% of total transaction volume.</a:t>
            </a:r>
          </a:p>
          <a:p>
            <a:r>
              <a:t>• T30 vs B30 Split: Top 30 cities contribute 68% of AUM; B30 cities show +24% YoY growth.</a:t>
            </a:r>
          </a:p>
          <a:p>
            <a:r>
              <a:t>• Age Demographics: 26-35 age bracket forms the largest investor cohort.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BLUESTOCK FINTECH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Performance &amp; Risk Engine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Risk-Adjusted Leaders: Top Sharpe ratios achieved by Mirae Asset Large Cap &amp; Kotak Flexicap.</a:t>
            </a:r>
          </a:p>
          <a:p>
            <a:r>
              <a:t>• Alpha Generation: 72.5% of equity schemes generated positive Jensen's Alpha relative to Nifty 50.</a:t>
            </a:r>
          </a:p>
          <a:p>
            <a:r>
              <a:t>• Sortino &amp; Drawdowns: Average Max Drawdown of -15.4% recovered within 45 trading days.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BLUESTOCK FINTECH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Advanced Analytics: VaR, Cohorts &amp; HHI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95% Historical VaR: Equity funds show average 1-day 95% VaR of -1.85% (CVaR: -2.75%).</a:t>
            </a:r>
          </a:p>
          <a:p>
            <a:r>
              <a:t>• SIP Continuity: Flagged at-risk investors with inter-transaction gaps &gt; 35 days.</a:t>
            </a:r>
          </a:p>
          <a:p>
            <a:r>
              <a:t>• Sector Concentration: Portfolios with HHI &lt; 800 maintain high diversification scores (&gt;85).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BLUESTOCK FINTECH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Interactive BI Dashboard: Pages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Page 1 (Industry Overview): Real-time KPI cards, quarterly AUM line chart, top AMC bar chart.</a:t>
            </a:r>
          </a:p>
          <a:p>
            <a:r>
              <a:t>• Page 2 (Fund Performance): Interactive risk-return scatter plot, sortable scorecard table, NAV vs benchmark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BLUESTOCK FINTECH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Interactive BI Dashboard: Pages 3 &amp;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Page 3 (Investor Analytics): State transaction volume bar chart, SIP vs Lumpsum donut split, age group SIP bar.</a:t>
            </a:r>
          </a:p>
          <a:p>
            <a:r>
              <a:t>• Page 4 (SIP &amp; Market Trends): Dual-axis SIP inflow vs Nifty 50 line, category inflow heatmaps.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BLUESTOCK FINTECH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Key Business Findings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Active Management Value: Positive Alpha validates active stock selection in Indian markets.</a:t>
            </a:r>
          </a:p>
          <a:p>
            <a:r>
              <a:t>2. Systematic Investing Strength: SIP inflows act as resilient counter-cyclical buffers during market drops.</a:t>
            </a:r>
          </a:p>
          <a:p>
            <a:r>
              <a:t>3. Recommendation Deployment: Integrate `scripts/recommender.py` into mobile app backends.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Thank You!</a:t>
            </a:r>
          </a:p>
          <a:p>
            <a:pPr algn="ctr">
              <a:defRPr sz="1600">
                <a:solidFill>
                  <a:srgbClr val="0A2540"/>
                </a:solidFill>
              </a:defRPr>
            </a:pPr>
            <a:r>
              <a:t>Bluestock Mutual Fund Analytics Platform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